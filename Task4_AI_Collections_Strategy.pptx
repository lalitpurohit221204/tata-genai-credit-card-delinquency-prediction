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title>
      <c:tx>
        <c:rich>
          <a:bodyPr/>
          <a:lstStyle/>
          <a:p>
            <a:pPr>
              <a:defRPr sz="1400" b="0" i="0" u="none" strike="noStrike">
                <a:solidFill>
                  <a:srgbClr val="1E2761"/>
                </a:solidFill>
                <a:latin typeface="Arial"/>
              </a:defRPr>
            </a:pPr>
            <a:r>
              <a:rPr sz="1400" b="0" i="0" u="none" strike="noStrike">
                <a:solidFill>
                  <a:srgbClr val="1E2761"/>
                </a:solidFill>
                <a:latin typeface="Arial"/>
              </a:rPr>
              <a:t>AUC by cross-validation fold (chance = 0.50)</a:t>
            </a: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ROC-AUC</c:v>
                </c:pt>
              </c:strCache>
            </c:strRef>
          </c:tx>
          <c:spPr>
            <a:solidFill>
              <a:srgbClr val="3D8BFD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1E2761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Sheet1!$A$2:$A$6</c:f>
              <c:multiLvlStrCache>
                <c:ptCount val="5"/>
                <c:lvl>
                  <c:pt idx="0">
                    <c:v>Fold 1</c:v>
                  </c:pt>
                  <c:pt idx="1">
                    <c:v>Fold 2</c:v>
                  </c:pt>
                  <c:pt idx="2">
                    <c:v>Fold 3</c:v>
                  </c:pt>
                  <c:pt idx="3">
                    <c:v>Fold 4</c:v>
                  </c:pt>
                  <c:pt idx="4">
                    <c:v>Fold 5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0.537</c:v>
                </c:pt>
                <c:pt idx="1">
                  <c:v>0.408</c:v>
                </c:pt>
                <c:pt idx="2">
                  <c:v>0.45</c:v>
                </c:pt>
                <c:pt idx="3">
                  <c:v>0.422</c:v>
                </c:pt>
                <c:pt idx="4">
                  <c:v>0.394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1E2761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784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0.6"/>
          <c:min val="0"/>
        </c:scaling>
        <c:delete val="0"/>
        <c:axPos val="l"/>
        <c:majorGridlines>
          <c:spPr>
            <a:ln w="12700" cap="flat">
              <a:solidFill>
                <a:srgbClr val="E5EAF7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5C6784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961120" y="-2286000"/>
            <a:ext cx="6400800" cy="64008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Shape 1"/>
          <p:cNvSpPr/>
          <p:nvPr/>
        </p:nvSpPr>
        <p:spPr>
          <a:xfrm>
            <a:off x="10515600" y="4389120"/>
            <a:ext cx="3657600" cy="3657600"/>
          </a:xfrm>
          <a:prstGeom prst="ellipse">
            <a:avLst/>
          </a:prstGeom>
          <a:solidFill>
            <a:srgbClr val="3D8BFD">
              <a:alpha val="18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40080" y="128016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CADCFC"/>
                </a:solidFill>
              </a:rPr>
              <a:t>GELDIUM FINANCE  ·  COLLECTIONS STRATEGY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737360"/>
            <a:ext cx="960120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AI-Powered Collections Strategy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40080" y="2697480"/>
            <a:ext cx="8686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Leveraging Agentic AI for Scalable, Fair, and Data-Grounded Debt Management</a:t>
            </a:r>
            <a:endParaRPr lang="en-US" sz="1800" dirty="0"/>
          </a:p>
        </p:txBody>
      </p:sp>
      <p:sp>
        <p:nvSpPr>
          <p:cNvPr id="7" name="Shape 5"/>
          <p:cNvSpPr/>
          <p:nvPr/>
        </p:nvSpPr>
        <p:spPr>
          <a:xfrm>
            <a:off x="640080" y="3520440"/>
            <a:ext cx="1097280" cy="0"/>
          </a:xfrm>
          <a:prstGeom prst="line">
            <a:avLst/>
          </a:prstGeom>
          <a:noFill/>
          <a:ln w="38100">
            <a:solidFill>
              <a:srgbClr val="3D8BFD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640080" y="5806440"/>
            <a:ext cx="96012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FB3E8"/>
                </a:solidFill>
              </a:rPr>
              <a:t>Prepared for: </a:t>
            </a:r>
            <a:pPr indent="0" marL="0">
              <a:lnSpc>
                <a:spcPts val="2000"/>
              </a:lnSpc>
              <a:buNone/>
            </a:pPr>
            <a:r>
              <a:rPr lang="en-US" sz="1200" b="1" dirty="0">
                <a:solidFill>
                  <a:srgbClr val="FFFFFF"/>
                </a:solidFill>
              </a:rPr>
              <a:t>Head of Collections, Geldium Finance
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9FB3E8"/>
                </a:solidFill>
              </a:rPr>
              <a:t>Engagement: </a:t>
            </a:r>
            <a:pPr indent="0" marL="0">
              <a:lnSpc>
                <a:spcPts val="2000"/>
              </a:lnSpc>
              <a:buNone/>
            </a:pPr>
            <a:r>
              <a:rPr lang="en-US" sz="1200" dirty="0">
                <a:solidFill>
                  <a:srgbClr val="FFFFFF"/>
                </a:solidFill>
              </a:rPr>
              <a:t>Tata iQ GenAI Powered Data Analytics — Forage virtual experience (simulated client engagement)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The Business Problem — Grounded in Real Portfolio Data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9144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</a:rPr>
              <a:t>500-customer sample analyzed prior to designing this strategy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76479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8B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500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685800" y="26517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5C6784"/>
                </a:solidFill>
              </a:rPr>
              <a:t>customers analyzed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83280" y="16002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</p:spPr>
      </p:sp>
      <p:sp>
        <p:nvSpPr>
          <p:cNvPr id="8" name="Text 6"/>
          <p:cNvSpPr/>
          <p:nvPr/>
        </p:nvSpPr>
        <p:spPr>
          <a:xfrm>
            <a:off x="3383280" y="176479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8B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16.0%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3520440" y="26517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5C6784"/>
                </a:solidFill>
              </a:rPr>
              <a:t>overall delinquency rate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6217920" y="16002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</p:spPr>
      </p:sp>
      <p:sp>
        <p:nvSpPr>
          <p:cNvPr id="11" name="Text 9"/>
          <p:cNvSpPr/>
          <p:nvPr/>
        </p:nvSpPr>
        <p:spPr>
          <a:xfrm>
            <a:off x="6217920" y="176479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3D8BF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30.4%</a:t>
            </a:r>
            <a:endParaRPr lang="en-US" sz="4000" dirty="0"/>
          </a:p>
        </p:txBody>
      </p:sp>
      <p:sp>
        <p:nvSpPr>
          <p:cNvPr id="12" name="Text 10"/>
          <p:cNvSpPr/>
          <p:nvPr/>
        </p:nvSpPr>
        <p:spPr>
          <a:xfrm>
            <a:off x="6355080" y="26517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5C6784"/>
                </a:solidFill>
              </a:rPr>
              <a:t>rate in highest-risk segment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5C6784"/>
                </a:solidFill>
              </a:rPr>
              <a:t>(unemployed + high DTI)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9052560" y="1600200"/>
            <a:ext cx="2606040" cy="1828800"/>
          </a:xfrm>
          <a:prstGeom prst="roundRect">
            <a:avLst>
              <a:gd name="adj" fmla="val 4000"/>
            </a:avLst>
          </a:prstGeom>
          <a:solidFill>
            <a:srgbClr val="F4F7FE"/>
          </a:solidFill>
          <a:ln/>
        </p:spPr>
      </p:sp>
      <p:sp>
        <p:nvSpPr>
          <p:cNvPr id="14" name="Text 12"/>
          <p:cNvSpPr/>
          <p:nvPr/>
        </p:nvSpPr>
        <p:spPr>
          <a:xfrm>
            <a:off x="9052560" y="1764792"/>
            <a:ext cx="2606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C039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0.44</a:t>
            </a:r>
            <a:endParaRPr lang="en-US" sz="4000" dirty="0"/>
          </a:p>
        </p:txBody>
      </p:sp>
      <p:sp>
        <p:nvSpPr>
          <p:cNvPr id="15" name="Text 13"/>
          <p:cNvSpPr/>
          <p:nvPr/>
        </p:nvSpPr>
        <p:spPr>
          <a:xfrm>
            <a:off x="9189720" y="2651760"/>
            <a:ext cx="23317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5C6784"/>
                </a:solidFill>
              </a:rPr>
              <a:t>current model AUC —</a:t>
            </a:r>
            <a:endParaRPr lang="en-US" sz="1200" dirty="0"/>
          </a:p>
          <a:p>
            <a:pPr algn="ctr" indent="0" marL="0">
              <a:lnSpc>
                <a:spcPts val="1400"/>
              </a:lnSpc>
              <a:buNone/>
            </a:pPr>
            <a:r>
              <a:rPr lang="en-US" sz="1200" dirty="0">
                <a:solidFill>
                  <a:srgbClr val="5C6784"/>
                </a:solidFill>
              </a:rPr>
              <a:t>no better than chance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3749040"/>
            <a:ext cx="10789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Manual, reactive collections cannot scale to this pattern.</a:t>
            </a:r>
            <a:endParaRPr lang="en-US" sz="1600" dirty="0"/>
          </a:p>
        </p:txBody>
      </p:sp>
      <p:sp>
        <p:nvSpPr>
          <p:cNvPr id="17" name="Shape 15"/>
          <p:cNvSpPr/>
          <p:nvPr/>
        </p:nvSpPr>
        <p:spPr>
          <a:xfrm>
            <a:off x="548640" y="4251960"/>
            <a:ext cx="109728" cy="109728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4133088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784"/>
                </a:solidFill>
              </a:rPr>
              <a:t>Static segmentation misses the compounding effect of employment status + debt-to-income ratio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48640" y="4709160"/>
            <a:ext cx="109728" cy="109728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20" name="Text 18"/>
          <p:cNvSpPr/>
          <p:nvPr/>
        </p:nvSpPr>
        <p:spPr>
          <a:xfrm>
            <a:off x="822960" y="4590288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784"/>
                </a:solidFill>
              </a:rPr>
              <a:t>Prioritization today isn't grounded in verified risk patterns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48640" y="5166360"/>
            <a:ext cx="109728" cy="109728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22" name="Text 20"/>
          <p:cNvSpPr/>
          <p:nvPr/>
        </p:nvSpPr>
        <p:spPr>
          <a:xfrm>
            <a:off x="822960" y="5047488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784"/>
                </a:solidFill>
              </a:rPr>
              <a:t>Outreach is uniform rather than tailored to segment-level risk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48640" y="5623560"/>
            <a:ext cx="109728" cy="109728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24" name="Text 22"/>
          <p:cNvSpPr/>
          <p:nvPr/>
        </p:nvSpPr>
        <p:spPr>
          <a:xfrm>
            <a:off x="822960" y="5504688"/>
            <a:ext cx="103327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5C6784"/>
                </a:solidFill>
              </a:rPr>
              <a:t>The current predictive model isn't yet reliable enough (AUC 0.44) to drive automated decisions</a:t>
            </a:r>
            <a:endParaRPr lang="en-US" sz="1350" dirty="0"/>
          </a:p>
        </p:txBody>
      </p:sp>
      <p:sp>
        <p:nvSpPr>
          <p:cNvPr id="25" name="Text 2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the System Works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058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ADCFC"/>
                </a:solidFill>
              </a:rPr>
              <a:t>A closed-loop pipeline: transparent segment rules today, model scores once validated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1394460" y="2148840"/>
            <a:ext cx="822960" cy="822960"/>
          </a:xfrm>
          <a:prstGeom prst="ellipse">
            <a:avLst/>
          </a:prstGeom>
          <a:solidFill>
            <a:srgbClr val="3D8BFD"/>
          </a:solidFill>
          <a:ln/>
        </p:spPr>
      </p:sp>
      <p:pic>
        <p:nvPicPr>
          <p:cNvPr id="6" name="Image 0" descr="/home/claude/task4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493215" y="2247595"/>
            <a:ext cx="625450" cy="62545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685800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Inputs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731520" y="352044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Real-time customer data: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income, utilization, missed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payments, payment history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3063240" y="3246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8BFD"/>
                </a:solidFill>
              </a:rPr>
              <a:t>→</a:t>
            </a:r>
            <a:endParaRPr lang="en-US" sz="2200" dirty="0"/>
          </a:p>
        </p:txBody>
      </p:sp>
      <p:sp>
        <p:nvSpPr>
          <p:cNvPr id="10" name="Shape 7"/>
          <p:cNvSpPr/>
          <p:nvPr/>
        </p:nvSpPr>
        <p:spPr>
          <a:xfrm>
            <a:off x="3383280" y="182880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4229100" y="2148840"/>
            <a:ext cx="822960" cy="822960"/>
          </a:xfrm>
          <a:prstGeom prst="ellipse">
            <a:avLst/>
          </a:prstGeom>
          <a:solidFill>
            <a:srgbClr val="3D8BFD"/>
          </a:solidFill>
          <a:ln/>
        </p:spPr>
      </p:sp>
      <p:pic>
        <p:nvPicPr>
          <p:cNvPr id="12" name="Image 1" descr="/home/claude/task4/icon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27855" y="2247595"/>
            <a:ext cx="625450" cy="62545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520440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Decision Logic</a:t>
            </a:r>
            <a:endParaRPr lang="en-US" sz="1600" dirty="0"/>
          </a:p>
        </p:txBody>
      </p:sp>
      <p:sp>
        <p:nvSpPr>
          <p:cNvPr id="14" name="Text 10"/>
          <p:cNvSpPr/>
          <p:nvPr/>
        </p:nvSpPr>
        <p:spPr>
          <a:xfrm>
            <a:off x="3566160" y="352044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Combines segment rules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(validated) and model scores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(monitored) into an action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5897880" y="3246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8BFD"/>
                </a:solidFill>
              </a:rPr>
              <a:t>→</a:t>
            </a:r>
            <a:endParaRPr lang="en-US" sz="2200" dirty="0"/>
          </a:p>
        </p:txBody>
      </p:sp>
      <p:sp>
        <p:nvSpPr>
          <p:cNvPr id="16" name="Shape 12"/>
          <p:cNvSpPr/>
          <p:nvPr/>
        </p:nvSpPr>
        <p:spPr>
          <a:xfrm>
            <a:off x="6217920" y="182880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17" name="Shape 13"/>
          <p:cNvSpPr/>
          <p:nvPr/>
        </p:nvSpPr>
        <p:spPr>
          <a:xfrm>
            <a:off x="7063740" y="2148840"/>
            <a:ext cx="822960" cy="822960"/>
          </a:xfrm>
          <a:prstGeom prst="ellipse">
            <a:avLst/>
          </a:prstGeom>
          <a:solidFill>
            <a:srgbClr val="3D8BFD"/>
          </a:solidFill>
          <a:ln/>
        </p:spPr>
      </p:sp>
      <p:pic>
        <p:nvPicPr>
          <p:cNvPr id="18" name="Image 2" descr="/home/claude/task4/icons/se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62495" y="2247595"/>
            <a:ext cx="625450" cy="625450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6355080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Actions</a:t>
            </a:r>
            <a:endParaRPr lang="en-US" sz="1600" dirty="0"/>
          </a:p>
        </p:txBody>
      </p:sp>
      <p:sp>
        <p:nvSpPr>
          <p:cNvPr id="20" name="Text 15"/>
          <p:cNvSpPr/>
          <p:nvPr/>
        </p:nvSpPr>
        <p:spPr>
          <a:xfrm>
            <a:off x="6400800" y="352044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SMS, email, payment plans,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hardship support — matched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to risk tier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732520" y="3246120"/>
            <a:ext cx="3200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3D8BFD"/>
                </a:solidFill>
              </a:rPr>
              <a:t>→</a:t>
            </a:r>
            <a:endParaRPr lang="en-US" sz="2200" dirty="0"/>
          </a:p>
        </p:txBody>
      </p:sp>
      <p:sp>
        <p:nvSpPr>
          <p:cNvPr id="22" name="Shape 17"/>
          <p:cNvSpPr/>
          <p:nvPr/>
        </p:nvSpPr>
        <p:spPr>
          <a:xfrm>
            <a:off x="9052560" y="1828800"/>
            <a:ext cx="2514600" cy="3291840"/>
          </a:xfrm>
          <a:prstGeom prst="roundRect">
            <a:avLst>
              <a:gd name="adj" fmla="val 3636"/>
            </a:avLst>
          </a:prstGeom>
          <a:solidFill>
            <a:srgbClr val="1E2761"/>
          </a:solidFill>
          <a:ln/>
        </p:spPr>
      </p:sp>
      <p:sp>
        <p:nvSpPr>
          <p:cNvPr id="23" name="Shape 18"/>
          <p:cNvSpPr/>
          <p:nvPr/>
        </p:nvSpPr>
        <p:spPr>
          <a:xfrm>
            <a:off x="9898380" y="2148840"/>
            <a:ext cx="822960" cy="822960"/>
          </a:xfrm>
          <a:prstGeom prst="ellipse">
            <a:avLst/>
          </a:prstGeom>
          <a:solidFill>
            <a:srgbClr val="3D8BFD"/>
          </a:solidFill>
          <a:ln/>
        </p:spPr>
      </p:sp>
      <p:pic>
        <p:nvPicPr>
          <p:cNvPr id="24" name="Image 3" descr="/home/claude/task4/icons/refre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997135" y="2247595"/>
            <a:ext cx="625450" cy="625450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9189720" y="3108960"/>
            <a:ext cx="224028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Learning Loop</a:t>
            </a:r>
            <a:endParaRPr lang="en-US" sz="1600" dirty="0"/>
          </a:p>
        </p:txBody>
      </p:sp>
      <p:sp>
        <p:nvSpPr>
          <p:cNvPr id="26" name="Text 20"/>
          <p:cNvSpPr/>
          <p:nvPr/>
        </p:nvSpPr>
        <p:spPr>
          <a:xfrm>
            <a:off x="9235440" y="3520440"/>
            <a:ext cx="214884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Tracks repayment outcomes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to refine rules and retrain</a:t>
            </a:r>
            <a:endParaRPr lang="en-US" sz="115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the model over time</a:t>
            </a:r>
            <a:endParaRPr lang="en-US" sz="1150" dirty="0"/>
          </a:p>
        </p:txBody>
      </p:sp>
      <p:sp>
        <p:nvSpPr>
          <p:cNvPr id="27" name="Text 21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System Components and Workflow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23444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4F7FE"/>
          </a:solidFill>
          <a:ln w="12700">
            <a:solidFill>
              <a:srgbClr val="E5EAF7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22960" y="144018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task4/icons/databas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0742" y="1527962"/>
            <a:ext cx="555955" cy="5559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828800" y="136245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Data Pipeline</a:t>
            </a:r>
            <a:endParaRPr lang="en-US" sz="1600" dirty="0"/>
          </a:p>
        </p:txBody>
      </p:sp>
      <p:sp>
        <p:nvSpPr>
          <p:cNvPr id="7" name="Text 4"/>
          <p:cNvSpPr/>
          <p:nvPr/>
        </p:nvSpPr>
        <p:spPr>
          <a:xfrm>
            <a:off x="1828800" y="1764792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784"/>
                </a:solidFill>
              </a:rPr>
              <a:t>Ingests financial behavior: income, missed payments, utilization, employment status, 6-month payment history.</a:t>
            </a:r>
            <a:endParaRPr lang="en-US" sz="1250" dirty="0"/>
          </a:p>
        </p:txBody>
      </p:sp>
      <p:sp>
        <p:nvSpPr>
          <p:cNvPr id="8" name="Shape 5"/>
          <p:cNvSpPr/>
          <p:nvPr/>
        </p:nvSpPr>
        <p:spPr>
          <a:xfrm>
            <a:off x="548640" y="251460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AF7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822960" y="27203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task4/icons/cpu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0742" y="2808122"/>
            <a:ext cx="555955" cy="5559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828800" y="264261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Decision Engine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1828800" y="3044952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784"/>
                </a:solidFill>
              </a:rPr>
              <a:t>Applies business rules (validated segment thresholds) alongside the ML risk score; factors in payment history and predicted behavior.</a:t>
            </a:r>
            <a:endParaRPr lang="en-US" sz="1250" dirty="0"/>
          </a:p>
        </p:txBody>
      </p:sp>
      <p:sp>
        <p:nvSpPr>
          <p:cNvPr id="13" name="Shape 9"/>
          <p:cNvSpPr/>
          <p:nvPr/>
        </p:nvSpPr>
        <p:spPr>
          <a:xfrm>
            <a:off x="548640" y="379476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4F7FE"/>
          </a:solidFill>
          <a:ln w="12700">
            <a:solidFill>
              <a:srgbClr val="E5EAF7"/>
            </a:solidFill>
            <a:prstDash val="solid"/>
          </a:ln>
        </p:spPr>
      </p:sp>
      <p:sp>
        <p:nvSpPr>
          <p:cNvPr id="14" name="Shape 10"/>
          <p:cNvSpPr/>
          <p:nvPr/>
        </p:nvSpPr>
        <p:spPr>
          <a:xfrm>
            <a:off x="822960" y="400050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task4/icons/sen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0742" y="4088282"/>
            <a:ext cx="555955" cy="55595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828800" y="392277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Action Layer</a:t>
            </a:r>
            <a:endParaRPr lang="en-US" sz="1600" dirty="0"/>
          </a:p>
        </p:txBody>
      </p:sp>
      <p:sp>
        <p:nvSpPr>
          <p:cNvPr id="17" name="Text 12"/>
          <p:cNvSpPr/>
          <p:nvPr/>
        </p:nvSpPr>
        <p:spPr>
          <a:xfrm>
            <a:off x="1828800" y="4325112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784"/>
                </a:solidFill>
              </a:rPr>
              <a:t>Executes interventions: SMS/email reminders, customized repayment offers, hardship assistance, escalation for complex cases.</a:t>
            </a:r>
            <a:endParaRPr lang="en-US" sz="1250" dirty="0"/>
          </a:p>
        </p:txBody>
      </p:sp>
      <p:sp>
        <p:nvSpPr>
          <p:cNvPr id="18" name="Shape 13"/>
          <p:cNvSpPr/>
          <p:nvPr/>
        </p:nvSpPr>
        <p:spPr>
          <a:xfrm>
            <a:off x="548640" y="5074920"/>
            <a:ext cx="1106424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E5EAF7"/>
            </a:solidFill>
            <a:prstDash val="solid"/>
          </a:ln>
        </p:spPr>
      </p:sp>
      <p:sp>
        <p:nvSpPr>
          <p:cNvPr id="19" name="Shape 14"/>
          <p:cNvSpPr/>
          <p:nvPr/>
        </p:nvSpPr>
        <p:spPr>
          <a:xfrm>
            <a:off x="822960" y="528066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/home/claude/task4/icons/refresh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0742" y="5368442"/>
            <a:ext cx="555955" cy="55595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828800" y="5202936"/>
            <a:ext cx="23774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Learning Loop</a:t>
            </a:r>
            <a:endParaRPr lang="en-US" sz="1600" dirty="0"/>
          </a:p>
        </p:txBody>
      </p:sp>
      <p:sp>
        <p:nvSpPr>
          <p:cNvPr id="22" name="Text 16"/>
          <p:cNvSpPr/>
          <p:nvPr/>
        </p:nvSpPr>
        <p:spPr>
          <a:xfrm>
            <a:off x="1828800" y="5605272"/>
            <a:ext cx="9509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5C6784"/>
                </a:solidFill>
              </a:rPr>
              <a:t>System adapts based on outcomes of previous actions; future decisions improve as repayment data accumulates.</a:t>
            </a:r>
            <a:endParaRPr lang="en-US" sz="1250" dirty="0"/>
          </a:p>
        </p:txBody>
      </p:sp>
      <p:sp>
        <p:nvSpPr>
          <p:cNvPr id="23" name="Text 17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Role of Agentic AI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7899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</a:rPr>
              <a:t>Agentic AI autonomously handles routine collections tasks; human oversight ensures fair, nuanced judgment on sensitive cases</a:t>
            </a:r>
            <a:endParaRPr lang="en-US" sz="1350" dirty="0"/>
          </a:p>
        </p:txBody>
      </p:sp>
      <p:sp>
        <p:nvSpPr>
          <p:cNvPr id="4" name="Shape 2"/>
          <p:cNvSpPr/>
          <p:nvPr/>
        </p:nvSpPr>
        <p:spPr>
          <a:xfrm>
            <a:off x="548640" y="1600200"/>
            <a:ext cx="5394960" cy="4206240"/>
          </a:xfrm>
          <a:prstGeom prst="roundRect">
            <a:avLst>
              <a:gd name="adj" fmla="val 2174"/>
            </a:avLst>
          </a:prstGeom>
          <a:solidFill>
            <a:srgbClr val="EAF2FF"/>
          </a:solidFill>
          <a:ln/>
        </p:spPr>
      </p:sp>
      <p:sp>
        <p:nvSpPr>
          <p:cNvPr id="5" name="Shape 3"/>
          <p:cNvSpPr/>
          <p:nvPr/>
        </p:nvSpPr>
        <p:spPr>
          <a:xfrm>
            <a:off x="6172200" y="1600200"/>
            <a:ext cx="5440680" cy="4206240"/>
          </a:xfrm>
          <a:prstGeom prst="roundRect">
            <a:avLst>
              <a:gd name="adj" fmla="val 2174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868680" y="1828800"/>
            <a:ext cx="548640" cy="548640"/>
          </a:xfrm>
          <a:prstGeom prst="ellipse">
            <a:avLst/>
          </a:prstGeom>
          <a:solidFill>
            <a:srgbClr val="3D8BFD"/>
          </a:solidFill>
          <a:ln/>
        </p:spPr>
      </p:sp>
      <p:pic>
        <p:nvPicPr>
          <p:cNvPr id="7" name="Image 0" descr="/home/claude/task4/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4517" y="1894637"/>
            <a:ext cx="416966" cy="416966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1847088"/>
            <a:ext cx="4114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</a:rPr>
              <a:t>Autonomous (AI-handled)</a:t>
            </a:r>
            <a:endParaRPr lang="en-US" sz="1700" dirty="0"/>
          </a:p>
        </p:txBody>
      </p:sp>
      <p:sp>
        <p:nvSpPr>
          <p:cNvPr id="9" name="Shape 6"/>
          <p:cNvSpPr/>
          <p:nvPr/>
        </p:nvSpPr>
        <p:spPr>
          <a:xfrm>
            <a:off x="868680" y="2569464"/>
            <a:ext cx="91440" cy="91440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10" name="Text 7"/>
          <p:cNvSpPr/>
          <p:nvPr/>
        </p:nvSpPr>
        <p:spPr>
          <a:xfrm>
            <a:off x="1097280" y="244144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5C6784"/>
                </a:solidFill>
              </a:rPr>
              <a:t>Sending automated SMS/email reminders</a:t>
            </a:r>
            <a:endParaRPr lang="en-US" sz="1250" dirty="0"/>
          </a:p>
        </p:txBody>
      </p:sp>
      <p:sp>
        <p:nvSpPr>
          <p:cNvPr id="11" name="Shape 8"/>
          <p:cNvSpPr/>
          <p:nvPr/>
        </p:nvSpPr>
        <p:spPr>
          <a:xfrm>
            <a:off x="868680" y="3163824"/>
            <a:ext cx="91440" cy="91440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12" name="Text 9"/>
          <p:cNvSpPr/>
          <p:nvPr/>
        </p:nvSpPr>
        <p:spPr>
          <a:xfrm>
            <a:off x="1097280" y="303580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5C6784"/>
                </a:solidFill>
              </a:rPr>
              <a:t>Offering standard repayment plan options</a:t>
            </a:r>
            <a:endParaRPr lang="en-US" sz="1250" dirty="0"/>
          </a:p>
        </p:txBody>
      </p:sp>
      <p:sp>
        <p:nvSpPr>
          <p:cNvPr id="13" name="Shape 10"/>
          <p:cNvSpPr/>
          <p:nvPr/>
        </p:nvSpPr>
        <p:spPr>
          <a:xfrm>
            <a:off x="868680" y="3758184"/>
            <a:ext cx="91440" cy="91440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14" name="Text 11"/>
          <p:cNvSpPr/>
          <p:nvPr/>
        </p:nvSpPr>
        <p:spPr>
          <a:xfrm>
            <a:off x="1097280" y="363016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5C6784"/>
                </a:solidFill>
              </a:rPr>
              <a:t>Follow-up outreach for low-risk customers</a:t>
            </a:r>
            <a:endParaRPr lang="en-US" sz="1250" dirty="0"/>
          </a:p>
        </p:txBody>
      </p:sp>
      <p:sp>
        <p:nvSpPr>
          <p:cNvPr id="15" name="Shape 12"/>
          <p:cNvSpPr/>
          <p:nvPr/>
        </p:nvSpPr>
        <p:spPr>
          <a:xfrm>
            <a:off x="868680" y="4352544"/>
            <a:ext cx="91440" cy="91440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16" name="Text 13"/>
          <p:cNvSpPr/>
          <p:nvPr/>
        </p:nvSpPr>
        <p:spPr>
          <a:xfrm>
            <a:off x="1097280" y="4224528"/>
            <a:ext cx="4663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5C6784"/>
                </a:solidFill>
              </a:rPr>
              <a:t>Adaptive messaging timing based on response</a:t>
            </a:r>
            <a:endParaRPr lang="en-US" sz="1250" dirty="0"/>
          </a:p>
        </p:txBody>
      </p:sp>
      <p:sp>
        <p:nvSpPr>
          <p:cNvPr id="17" name="Shape 14"/>
          <p:cNvSpPr/>
          <p:nvPr/>
        </p:nvSpPr>
        <p:spPr>
          <a:xfrm>
            <a:off x="6492240" y="1828800"/>
            <a:ext cx="548640" cy="54864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8" name="Image 1" descr="/home/claude/task4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58077" y="1894637"/>
            <a:ext cx="416966" cy="416966"/>
          </a:xfrm>
          <a:prstGeom prst="rect">
            <a:avLst/>
          </a:prstGeom>
        </p:spPr>
      </p:pic>
      <p:sp>
        <p:nvSpPr>
          <p:cNvPr id="19" name="Text 15"/>
          <p:cNvSpPr/>
          <p:nvPr/>
        </p:nvSpPr>
        <p:spPr>
          <a:xfrm>
            <a:off x="7178040" y="1847088"/>
            <a:ext cx="4206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FFFFFF"/>
                </a:solidFill>
              </a:rPr>
              <a:t>Human Oversight (required)</a:t>
            </a:r>
            <a:endParaRPr lang="en-US" sz="1700" dirty="0"/>
          </a:p>
        </p:txBody>
      </p:sp>
      <p:sp>
        <p:nvSpPr>
          <p:cNvPr id="20" name="Shape 16"/>
          <p:cNvSpPr/>
          <p:nvPr/>
        </p:nvSpPr>
        <p:spPr>
          <a:xfrm>
            <a:off x="6492240" y="2569464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1" name="Text 17"/>
          <p:cNvSpPr/>
          <p:nvPr/>
        </p:nvSpPr>
        <p:spPr>
          <a:xfrm>
            <a:off x="6720840" y="244144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CADCFC"/>
                </a:solidFill>
              </a:rPr>
              <a:t>Tailored debt restructuring or hardship approval</a:t>
            </a:r>
            <a:endParaRPr lang="en-US" sz="1250" dirty="0"/>
          </a:p>
        </p:txBody>
      </p:sp>
      <p:sp>
        <p:nvSpPr>
          <p:cNvPr id="22" name="Shape 18"/>
          <p:cNvSpPr/>
          <p:nvPr/>
        </p:nvSpPr>
        <p:spPr>
          <a:xfrm>
            <a:off x="6492240" y="3163824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3" name="Text 19"/>
          <p:cNvSpPr/>
          <p:nvPr/>
        </p:nvSpPr>
        <p:spPr>
          <a:xfrm>
            <a:off x="6720840" y="303580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CADCFC"/>
                </a:solidFill>
              </a:rPr>
              <a:t>Verifying high-risk cases before escalation</a:t>
            </a:r>
            <a:endParaRPr lang="en-US" sz="1250" dirty="0"/>
          </a:p>
        </p:txBody>
      </p:sp>
      <p:sp>
        <p:nvSpPr>
          <p:cNvPr id="24" name="Shape 20"/>
          <p:cNvSpPr/>
          <p:nvPr/>
        </p:nvSpPr>
        <p:spPr>
          <a:xfrm>
            <a:off x="6492240" y="3758184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5" name="Text 21"/>
          <p:cNvSpPr/>
          <p:nvPr/>
        </p:nvSpPr>
        <p:spPr>
          <a:xfrm>
            <a:off x="6720840" y="363016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CADCFC"/>
                </a:solidFill>
              </a:rPr>
              <a:t>Legal action and compliance review</a:t>
            </a:r>
            <a:endParaRPr lang="en-US" sz="1250" dirty="0"/>
          </a:p>
        </p:txBody>
      </p:sp>
      <p:sp>
        <p:nvSpPr>
          <p:cNvPr id="26" name="Shape 22"/>
          <p:cNvSpPr/>
          <p:nvPr/>
        </p:nvSpPr>
        <p:spPr>
          <a:xfrm>
            <a:off x="6492240" y="4352544"/>
            <a:ext cx="91440" cy="91440"/>
          </a:xfrm>
          <a:prstGeom prst="ellipse">
            <a:avLst/>
          </a:prstGeom>
          <a:solidFill>
            <a:srgbClr val="CADCFC"/>
          </a:solidFill>
          <a:ln/>
        </p:spPr>
      </p:sp>
      <p:sp>
        <p:nvSpPr>
          <p:cNvPr id="27" name="Text 23"/>
          <p:cNvSpPr/>
          <p:nvPr/>
        </p:nvSpPr>
        <p:spPr>
          <a:xfrm>
            <a:off x="6720840" y="4224528"/>
            <a:ext cx="47548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250" dirty="0">
                <a:solidFill>
                  <a:srgbClr val="CADCFC"/>
                </a:solidFill>
              </a:rPr>
              <a:t>Sign-off on any model-driven action, given current AUC of 0.44</a:t>
            </a:r>
            <a:endParaRPr lang="en-US" sz="1250" dirty="0"/>
          </a:p>
        </p:txBody>
      </p:sp>
      <p:sp>
        <p:nvSpPr>
          <p:cNvPr id="28" name="Text 24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Responsible AI Guardrails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548640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4F7FE"/>
          </a:solidFill>
          <a:ln/>
        </p:spPr>
      </p:sp>
      <p:sp>
        <p:nvSpPr>
          <p:cNvPr id="4" name="Shape 2"/>
          <p:cNvSpPr/>
          <p:nvPr/>
        </p:nvSpPr>
        <p:spPr>
          <a:xfrm>
            <a:off x="1485900" y="16916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5" name="Image 0" descr="/home/claude/task4/icons/shiel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73682" y="1779422"/>
            <a:ext cx="555955" cy="555955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85800" y="2560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</a:rPr>
              <a:t>Fairness</a:t>
            </a:r>
            <a:endParaRPr lang="en-US" sz="1550" dirty="0"/>
          </a:p>
        </p:txBody>
      </p:sp>
      <p:sp>
        <p:nvSpPr>
          <p:cNvPr id="7" name="Text 4"/>
          <p:cNvSpPr/>
          <p:nvPr/>
        </p:nvSpPr>
        <p:spPr>
          <a:xfrm>
            <a:off x="731520" y="2953512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784"/>
                </a:solidFill>
              </a:rPr>
              <a:t>Regular bias audits across employment status, age, and income; monitor for disparate impact before any scaled rollout.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4F7FE"/>
          </a:solidFill>
          <a:ln/>
        </p:spPr>
      </p:sp>
      <p:sp>
        <p:nvSpPr>
          <p:cNvPr id="9" name="Shape 6"/>
          <p:cNvSpPr/>
          <p:nvPr/>
        </p:nvSpPr>
        <p:spPr>
          <a:xfrm>
            <a:off x="4320540" y="16916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/home/claude/task4/icons/ey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08322" y="1779422"/>
            <a:ext cx="555955" cy="555955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3520440" y="2560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</a:rPr>
              <a:t>Transparency</a:t>
            </a:r>
            <a:endParaRPr lang="en-US" sz="1550" dirty="0"/>
          </a:p>
        </p:txBody>
      </p:sp>
      <p:sp>
        <p:nvSpPr>
          <p:cNvPr id="12" name="Text 8"/>
          <p:cNvSpPr/>
          <p:nvPr/>
        </p:nvSpPr>
        <p:spPr>
          <a:xfrm>
            <a:off x="3566160" y="2953512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784"/>
                </a:solidFill>
              </a:rPr>
              <a:t>Segment rules are fully explainable to customers and regulators — no black-box scoring until the model is validated.</a:t>
            </a:r>
            <a:endParaRPr lang="en-US" sz="1100" dirty="0"/>
          </a:p>
        </p:txBody>
      </p:sp>
      <p:sp>
        <p:nvSpPr>
          <p:cNvPr id="13" name="Shape 9"/>
          <p:cNvSpPr/>
          <p:nvPr/>
        </p:nvSpPr>
        <p:spPr>
          <a:xfrm>
            <a:off x="6217920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4F7FE"/>
          </a:solidFill>
          <a:ln/>
        </p:spPr>
      </p:sp>
      <p:sp>
        <p:nvSpPr>
          <p:cNvPr id="14" name="Shape 10"/>
          <p:cNvSpPr/>
          <p:nvPr/>
        </p:nvSpPr>
        <p:spPr>
          <a:xfrm>
            <a:off x="7155180" y="16916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5" name="Image 2" descr="/home/claude/task4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242962" y="1779422"/>
            <a:ext cx="555955" cy="555955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6355080" y="2560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</a:rPr>
              <a:t>Compliance</a:t>
            </a:r>
            <a:endParaRPr lang="en-US" sz="1550" dirty="0"/>
          </a:p>
        </p:txBody>
      </p:sp>
      <p:sp>
        <p:nvSpPr>
          <p:cNvPr id="17" name="Text 12"/>
          <p:cNvSpPr/>
          <p:nvPr/>
        </p:nvSpPr>
        <p:spPr>
          <a:xfrm>
            <a:off x="6400800" y="2953512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784"/>
                </a:solidFill>
              </a:rPr>
              <a:t>Aligned with GDPR, ECOA, FCRA, and FCA; all actions logged for audit.</a:t>
            </a:r>
            <a:endParaRPr lang="en-US" sz="1100" dirty="0"/>
          </a:p>
        </p:txBody>
      </p:sp>
      <p:sp>
        <p:nvSpPr>
          <p:cNvPr id="18" name="Shape 13"/>
          <p:cNvSpPr/>
          <p:nvPr/>
        </p:nvSpPr>
        <p:spPr>
          <a:xfrm>
            <a:off x="9052560" y="1417320"/>
            <a:ext cx="2606040" cy="3108960"/>
          </a:xfrm>
          <a:prstGeom prst="roundRect">
            <a:avLst>
              <a:gd name="adj" fmla="val 3509"/>
            </a:avLst>
          </a:prstGeom>
          <a:solidFill>
            <a:srgbClr val="F4F7FE"/>
          </a:solidFill>
          <a:ln/>
        </p:spPr>
      </p:sp>
      <p:sp>
        <p:nvSpPr>
          <p:cNvPr id="19" name="Shape 14"/>
          <p:cNvSpPr/>
          <p:nvPr/>
        </p:nvSpPr>
        <p:spPr>
          <a:xfrm>
            <a:off x="9989820" y="1691640"/>
            <a:ext cx="731520" cy="7315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0" name="Image 3" descr="/home/claude/task4/icons/users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77602" y="1779422"/>
            <a:ext cx="555955" cy="555955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189720" y="2560320"/>
            <a:ext cx="23317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50" b="1" dirty="0">
                <a:solidFill>
                  <a:srgbClr val="1E2761"/>
                </a:solidFill>
              </a:rPr>
              <a:t>Human Oversight</a:t>
            </a:r>
            <a:endParaRPr lang="en-US" sz="1550" dirty="0"/>
          </a:p>
        </p:txBody>
      </p:sp>
      <p:sp>
        <p:nvSpPr>
          <p:cNvPr id="22" name="Text 16"/>
          <p:cNvSpPr/>
          <p:nvPr/>
        </p:nvSpPr>
        <p:spPr>
          <a:xfrm>
            <a:off x="9235440" y="2953512"/>
            <a:ext cx="2240280" cy="1463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lnSpc>
                <a:spcPts val="1400"/>
              </a:lnSpc>
              <a:buNone/>
            </a:pPr>
            <a:r>
              <a:rPr lang="en-US" sz="1100" dirty="0">
                <a:solidFill>
                  <a:srgbClr val="5C6784"/>
                </a:solidFill>
              </a:rPr>
              <a:t>Required for hardship decisions, escalations, and any action informed by the current low-AUC model.</a:t>
            </a:r>
            <a:endParaRPr lang="en-US" sz="1100" dirty="0"/>
          </a:p>
        </p:txBody>
      </p:sp>
      <p:sp>
        <p:nvSpPr>
          <p:cNvPr id="23" name="Shape 17"/>
          <p:cNvSpPr/>
          <p:nvPr/>
        </p:nvSpPr>
        <p:spPr>
          <a:xfrm>
            <a:off x="548640" y="4754880"/>
            <a:ext cx="11064240" cy="1097280"/>
          </a:xfrm>
          <a:prstGeom prst="roundRect">
            <a:avLst>
              <a:gd name="adj" fmla="val 6667"/>
            </a:avLst>
          </a:prstGeom>
          <a:solidFill>
            <a:srgbClr val="FFF4E5"/>
          </a:solidFill>
          <a:ln/>
        </p:spPr>
      </p:sp>
      <p:sp>
        <p:nvSpPr>
          <p:cNvPr id="24" name="Shape 18"/>
          <p:cNvSpPr/>
          <p:nvPr/>
        </p:nvSpPr>
        <p:spPr>
          <a:xfrm>
            <a:off x="777240" y="4937760"/>
            <a:ext cx="594360" cy="594360"/>
          </a:xfrm>
          <a:prstGeom prst="ellipse">
            <a:avLst/>
          </a:prstGeom>
          <a:solidFill>
            <a:srgbClr val="E8A33D"/>
          </a:solidFill>
          <a:ln/>
        </p:spPr>
      </p:sp>
      <p:pic>
        <p:nvPicPr>
          <p:cNvPr id="25" name="Image 4" descr="/home/claude/task4/icons/al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48563" y="5009083"/>
            <a:ext cx="451714" cy="451714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554480" y="4892040"/>
            <a:ext cx="9784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250" b="1" dirty="0">
                <a:solidFill>
                  <a:srgbClr val="8A5A00"/>
                </a:solidFill>
              </a:rPr>
              <a:t>Current status: </a:t>
            </a:r>
            <a:pPr indent="0" marL="0">
              <a:lnSpc>
                <a:spcPts val="1500"/>
              </a:lnSpc>
              <a:buNone/>
            </a:pPr>
            <a:r>
              <a:rPr lang="en-US" sz="1250" dirty="0">
                <a:solidFill>
                  <a:srgbClr val="6B4A00"/>
                </a:solidFill>
              </a:rPr>
              <a:t>The predictive model has not yet demonstrated reliable performance (AUC 0.44). Until retrained on a larger or real production dataset, decisions rely on transparent segment rules with mandatory human review — not automated model scoring.</a:t>
            </a:r>
            <a:endParaRPr lang="en-US" sz="1250" dirty="0"/>
          </a:p>
        </p:txBody>
      </p:sp>
      <p:sp>
        <p:nvSpPr>
          <p:cNvPr id="27" name="Text 20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1148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Performance — Honest Assessment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960120"/>
            <a:ext cx="10515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6B7280"/>
                </a:solidFill>
              </a:rPr>
              <a:t>5-fold cross-validated logistic regression, tested directly on the Geldium sample dataset</a:t>
            </a:r>
            <a:endParaRPr lang="en-US" sz="135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548640" y="1554480"/>
          <a:ext cx="6583680" cy="42062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48640" y="2301240"/>
            <a:ext cx="6583680" cy="0"/>
          </a:xfrm>
          <a:prstGeom prst="line">
            <a:avLst/>
          </a:prstGeom>
          <a:noFill/>
          <a:ln w="19050">
            <a:solidFill>
              <a:srgbClr val="C0392B"/>
            </a:solidFill>
            <a:prstDash val="dash"/>
          </a:ln>
        </p:spPr>
      </p:sp>
      <p:sp>
        <p:nvSpPr>
          <p:cNvPr id="6" name="Shape 3"/>
          <p:cNvSpPr/>
          <p:nvPr/>
        </p:nvSpPr>
        <p:spPr>
          <a:xfrm>
            <a:off x="7406640" y="1554480"/>
            <a:ext cx="4206240" cy="4206240"/>
          </a:xfrm>
          <a:prstGeom prst="roundRect">
            <a:avLst>
              <a:gd name="adj" fmla="val 2174"/>
            </a:avLst>
          </a:prstGeom>
          <a:solidFill>
            <a:srgbClr val="F4F7FE"/>
          </a:solidFill>
          <a:ln/>
        </p:spPr>
      </p:sp>
      <p:sp>
        <p:nvSpPr>
          <p:cNvPr id="7" name="Text 4"/>
          <p:cNvSpPr/>
          <p:nvPr/>
        </p:nvSpPr>
        <p:spPr>
          <a:xfrm>
            <a:off x="7635240" y="1783080"/>
            <a:ext cx="37490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761"/>
                </a:solidFill>
              </a:rPr>
              <a:t>What this means</a:t>
            </a:r>
            <a:endParaRPr lang="en-US" sz="1600" dirty="0"/>
          </a:p>
        </p:txBody>
      </p:sp>
      <p:sp>
        <p:nvSpPr>
          <p:cNvPr id="8" name="Shape 5"/>
          <p:cNvSpPr/>
          <p:nvPr/>
        </p:nvSpPr>
        <p:spPr>
          <a:xfrm>
            <a:off x="7635240" y="2340864"/>
            <a:ext cx="91440" cy="91440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9" name="Text 6"/>
          <p:cNvSpPr/>
          <p:nvPr/>
        </p:nvSpPr>
        <p:spPr>
          <a:xfrm>
            <a:off x="7863840" y="219456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784"/>
                </a:solidFill>
              </a:rPr>
              <a:t>Mean AUC of 0.44 is at or below chance (0.50)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7635240" y="3118104"/>
            <a:ext cx="91440" cy="91440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11" name="Text 8"/>
          <p:cNvSpPr/>
          <p:nvPr/>
        </p:nvSpPr>
        <p:spPr>
          <a:xfrm>
            <a:off x="7863840" y="297180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784"/>
                </a:solidFill>
              </a:rPr>
              <a:t>Consistent with weak feature-level correlations found in EDA (all under 0.05)</a:t>
            </a:r>
            <a:endParaRPr lang="en-US" sz="1150" dirty="0"/>
          </a:p>
        </p:txBody>
      </p:sp>
      <p:sp>
        <p:nvSpPr>
          <p:cNvPr id="12" name="Shape 9"/>
          <p:cNvSpPr/>
          <p:nvPr/>
        </p:nvSpPr>
        <p:spPr>
          <a:xfrm>
            <a:off x="7635240" y="3895344"/>
            <a:ext cx="91440" cy="91440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13" name="Text 10"/>
          <p:cNvSpPr/>
          <p:nvPr/>
        </p:nvSpPr>
        <p:spPr>
          <a:xfrm>
            <a:off x="7863840" y="374904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784"/>
                </a:solidFill>
              </a:rPr>
              <a:t>Pipeline &amp; methodology are sound — the signal simply isn't strong in this sample</a:t>
            </a:r>
            <a:endParaRPr lang="en-US" sz="1150" dirty="0"/>
          </a:p>
        </p:txBody>
      </p:sp>
      <p:sp>
        <p:nvSpPr>
          <p:cNvPr id="14" name="Shape 11"/>
          <p:cNvSpPr/>
          <p:nvPr/>
        </p:nvSpPr>
        <p:spPr>
          <a:xfrm>
            <a:off x="7635240" y="4672584"/>
            <a:ext cx="91440" cy="91440"/>
          </a:xfrm>
          <a:prstGeom prst="ellipse">
            <a:avLst/>
          </a:prstGeom>
          <a:solidFill>
            <a:srgbClr val="3D8BFD"/>
          </a:solidFill>
          <a:ln/>
        </p:spPr>
      </p:sp>
      <p:sp>
        <p:nvSpPr>
          <p:cNvPr id="15" name="Text 12"/>
          <p:cNvSpPr/>
          <p:nvPr/>
        </p:nvSpPr>
        <p:spPr>
          <a:xfrm>
            <a:off x="7863840" y="4526280"/>
            <a:ext cx="35661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5C6784"/>
                </a:solidFill>
              </a:rPr>
              <a:t>Recommend: test non-linear models, engineer interaction terms, or validate on a larger real dataset before production use</a:t>
            </a:r>
            <a:endParaRPr lang="en-US" sz="1150" dirty="0"/>
          </a:p>
        </p:txBody>
      </p:sp>
      <p:sp>
        <p:nvSpPr>
          <p:cNvPr id="16" name="Text 13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41B4D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3" name="Text 1"/>
          <p:cNvSpPr/>
          <p:nvPr/>
        </p:nvSpPr>
        <p:spPr>
          <a:xfrm>
            <a:off x="548640" y="457200"/>
            <a:ext cx="91440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Expected Business Impact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554480"/>
            <a:ext cx="640080" cy="640080"/>
          </a:xfrm>
          <a:prstGeom prst="ellipse">
            <a:avLst/>
          </a:prstGeom>
          <a:solidFill>
            <a:srgbClr val="3D8BFD"/>
          </a:solidFill>
          <a:ln/>
        </p:spPr>
      </p:sp>
      <p:pic>
        <p:nvPicPr>
          <p:cNvPr id="6" name="Image 0" descr="/home/claude/task4/icons/tre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4050" y="1631290"/>
            <a:ext cx="486461" cy="486461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645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Business Outcomes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77240" y="24231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Pilot targets the 30.4%-risk segment directly, using validated rules</a:t>
            </a:r>
            <a:endParaRPr lang="en-US" sz="1150" dirty="0"/>
          </a:p>
        </p:txBody>
      </p:sp>
      <p:sp>
        <p:nvSpPr>
          <p:cNvPr id="9" name="Text 6"/>
          <p:cNvSpPr/>
          <p:nvPr/>
        </p:nvSpPr>
        <p:spPr>
          <a:xfrm>
            <a:off x="777240" y="34290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Automate routine reminders, freeing staff for complex cases</a:t>
            </a:r>
            <a:endParaRPr lang="en-US" sz="1150" dirty="0"/>
          </a:p>
        </p:txBody>
      </p:sp>
      <p:sp>
        <p:nvSpPr>
          <p:cNvPr id="10" name="Shape 7"/>
          <p:cNvSpPr/>
          <p:nvPr/>
        </p:nvSpPr>
        <p:spPr>
          <a:xfrm>
            <a:off x="4343400" y="128016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sp>
        <p:nvSpPr>
          <p:cNvPr id="11" name="Shape 8"/>
          <p:cNvSpPr/>
          <p:nvPr/>
        </p:nvSpPr>
        <p:spPr>
          <a:xfrm>
            <a:off x="4572000" y="1554480"/>
            <a:ext cx="640080" cy="640080"/>
          </a:xfrm>
          <a:prstGeom prst="ellipse">
            <a:avLst/>
          </a:prstGeom>
          <a:solidFill>
            <a:srgbClr val="3D8BFD"/>
          </a:solidFill>
          <a:ln/>
        </p:spPr>
      </p:sp>
      <p:pic>
        <p:nvPicPr>
          <p:cNvPr id="12" name="Image 1" descr="/home/claude/task4/icons/user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8810" y="1631290"/>
            <a:ext cx="486461" cy="4864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349240" y="1645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Customer Outcomes</a:t>
            </a:r>
            <a:endParaRPr lang="en-US" sz="1500" dirty="0"/>
          </a:p>
        </p:txBody>
      </p:sp>
      <p:sp>
        <p:nvSpPr>
          <p:cNvPr id="14" name="Text 10"/>
          <p:cNvSpPr/>
          <p:nvPr/>
        </p:nvSpPr>
        <p:spPr>
          <a:xfrm>
            <a:off x="4572000" y="24231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Timely, tailored outreach instead of generic collections language</a:t>
            </a:r>
            <a:endParaRPr lang="en-US" sz="1150" dirty="0"/>
          </a:p>
        </p:txBody>
      </p:sp>
      <p:sp>
        <p:nvSpPr>
          <p:cNvPr id="15" name="Text 11"/>
          <p:cNvSpPr/>
          <p:nvPr/>
        </p:nvSpPr>
        <p:spPr>
          <a:xfrm>
            <a:off x="4572000" y="34290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Supportive actions (payment plans, hardship options) prioritized</a:t>
            </a:r>
            <a:endParaRPr lang="en-US" sz="1150" dirty="0"/>
          </a:p>
        </p:txBody>
      </p:sp>
      <p:sp>
        <p:nvSpPr>
          <p:cNvPr id="16" name="Shape 12"/>
          <p:cNvSpPr/>
          <p:nvPr/>
        </p:nvSpPr>
        <p:spPr>
          <a:xfrm>
            <a:off x="8138160" y="1280160"/>
            <a:ext cx="3520440" cy="3291840"/>
          </a:xfrm>
          <a:prstGeom prst="roundRect">
            <a:avLst>
              <a:gd name="adj" fmla="val 2778"/>
            </a:avLst>
          </a:prstGeom>
          <a:solidFill>
            <a:srgbClr val="1E2761"/>
          </a:solidFill>
          <a:ln/>
        </p:spPr>
      </p:sp>
      <p:sp>
        <p:nvSpPr>
          <p:cNvPr id="17" name="Shape 13"/>
          <p:cNvSpPr/>
          <p:nvPr/>
        </p:nvSpPr>
        <p:spPr>
          <a:xfrm>
            <a:off x="8366760" y="1554480"/>
            <a:ext cx="640080" cy="640080"/>
          </a:xfrm>
          <a:prstGeom prst="ellipse">
            <a:avLst/>
          </a:prstGeom>
          <a:solidFill>
            <a:srgbClr val="3D8BFD"/>
          </a:solidFill>
          <a:ln/>
        </p:spPr>
      </p:sp>
      <p:pic>
        <p:nvPicPr>
          <p:cNvPr id="18" name="Image 2" descr="/home/claude/task4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43570" y="1631290"/>
            <a:ext cx="486461" cy="486461"/>
          </a:xfrm>
          <a:prstGeom prst="rect">
            <a:avLst/>
          </a:prstGeom>
        </p:spPr>
      </p:pic>
      <p:sp>
        <p:nvSpPr>
          <p:cNvPr id="19" name="Text 14"/>
          <p:cNvSpPr/>
          <p:nvPr/>
        </p:nvSpPr>
        <p:spPr>
          <a:xfrm>
            <a:off x="9144000" y="1645920"/>
            <a:ext cx="2331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</a:rPr>
              <a:t>Operational Efficiency</a:t>
            </a:r>
            <a:endParaRPr lang="en-US" sz="1500" dirty="0"/>
          </a:p>
        </p:txBody>
      </p:sp>
      <p:sp>
        <p:nvSpPr>
          <p:cNvPr id="20" name="Text 15"/>
          <p:cNvSpPr/>
          <p:nvPr/>
        </p:nvSpPr>
        <p:spPr>
          <a:xfrm>
            <a:off x="8366760" y="242316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Scales without compromising fairness or transparency</a:t>
            </a:r>
            <a:endParaRPr lang="en-US" sz="1150" dirty="0"/>
          </a:p>
        </p:txBody>
      </p:sp>
      <p:sp>
        <p:nvSpPr>
          <p:cNvPr id="21" name="Text 16"/>
          <p:cNvSpPr/>
          <p:nvPr/>
        </p:nvSpPr>
        <p:spPr>
          <a:xfrm>
            <a:off x="8366760" y="3429000"/>
            <a:ext cx="30632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lnSpc>
                <a:spcPts val="1400"/>
              </a:lnSpc>
              <a:buNone/>
            </a:pPr>
            <a:r>
              <a:rPr lang="en-US" sz="1150" dirty="0">
                <a:solidFill>
                  <a:srgbClr val="CADCFC"/>
                </a:solidFill>
              </a:rPr>
              <a:t>6-week pilot with clear measurement before wider rollout</a:t>
            </a:r>
            <a:endParaRPr lang="en-US" sz="1150" dirty="0"/>
          </a:p>
        </p:txBody>
      </p:sp>
      <p:sp>
        <p:nvSpPr>
          <p:cNvPr id="22" name="Text 17"/>
          <p:cNvSpPr/>
          <p:nvPr/>
        </p:nvSpPr>
        <p:spPr>
          <a:xfrm>
            <a:off x="548640" y="4846320"/>
            <a:ext cx="110642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CADCFC"/>
                </a:solidFill>
              </a:rPr>
              <a:t>This plan is built on real, verified portfolio patterns — and is transparent about where the model still needs work.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548640" y="630936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7C89B8"/>
                </a:solidFill>
              </a:rPr>
              <a:t>Tata iQ  ·  Forage Virtual Experience  ·  Simulated Client Engagement</a:t>
            </a:r>
            <a:endParaRPr lang="en-US" sz="1100" dirty="0"/>
          </a:p>
        </p:txBody>
      </p:sp>
      <p:sp>
        <p:nvSpPr>
          <p:cNvPr id="24" name="Text 19"/>
          <p:cNvSpPr/>
          <p:nvPr/>
        </p:nvSpPr>
        <p:spPr>
          <a:xfrm>
            <a:off x="11612880" y="6492240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2026-07-15T19:04:33Z</dcterms:created>
  <dcterms:modified xsi:type="dcterms:W3CDTF">2026-07-15T19:04:33Z</dcterms:modified>
</cp:coreProperties>
</file>